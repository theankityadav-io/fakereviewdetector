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Quattrocento" charset="1" panose="02020502030000000404"/>
      <p:regular r:id="rId19"/>
    </p:embeddedFont>
    <p:embeddedFont>
      <p:font typeface="Quattrocento Bold" charset="1" panose="020208020300000004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7159" y="5487886"/>
            <a:ext cx="4265409" cy="562270"/>
            <a:chOff x="0" y="0"/>
            <a:chExt cx="5687212" cy="7496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7187" cy="749681"/>
            </a:xfrm>
            <a:custGeom>
              <a:avLst/>
              <a:gdLst/>
              <a:ahLst/>
              <a:cxnLst/>
              <a:rect r="r" b="b" t="t" l="l"/>
              <a:pathLst>
                <a:path h="749681" w="5687187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5639308" y="0"/>
                  </a:lnTo>
                  <a:cubicBezTo>
                    <a:pt x="5665724" y="0"/>
                    <a:pt x="5687187" y="21463"/>
                    <a:pt x="5687187" y="47879"/>
                  </a:cubicBezTo>
                  <a:lnTo>
                    <a:pt x="5687187" y="701802"/>
                  </a:lnTo>
                  <a:cubicBezTo>
                    <a:pt x="5687187" y="728218"/>
                    <a:pt x="5665724" y="749681"/>
                    <a:pt x="5639308" y="749681"/>
                  </a:cubicBezTo>
                  <a:lnTo>
                    <a:pt x="47879" y="749681"/>
                  </a:lnTo>
                  <a:cubicBezTo>
                    <a:pt x="21463" y="749681"/>
                    <a:pt x="0" y="728218"/>
                    <a:pt x="0" y="701802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692446" y="737406"/>
            <a:ext cx="10374359" cy="8356724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047159" y="2435276"/>
            <a:ext cx="9335691" cy="178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ByteMind - Fake Review Detector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9" y="4577353"/>
            <a:ext cx="9335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Restoring Trust in Online Shopping with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6639" y="5482380"/>
            <a:ext cx="408593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HACKATHON: AWS AI FOR BHARAT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159" y="6291415"/>
            <a:ext cx="9335691" cy="153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Team:</a:t>
            </a: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ByteMind (Solo) | </a:t>
            </a:r>
            <a:r>
              <a:rPr lang="en-US" sz="231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Developer:</a:t>
            </a: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Ankit Kumar Yadav </a:t>
            </a:r>
          </a:p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University:</a:t>
            </a: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Galgotias University, BCA (Honours with Research) in AI/ML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92081" y="1523257"/>
            <a:ext cx="6693846" cy="67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The E-commerce Trust Crisis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092081" y="3074489"/>
            <a:ext cx="8981923" cy="5013122"/>
            <a:chOff x="0" y="0"/>
            <a:chExt cx="11975897" cy="66841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975846" cy="6684137"/>
            </a:xfrm>
            <a:custGeom>
              <a:avLst/>
              <a:gdLst/>
              <a:ahLst/>
              <a:cxnLst/>
              <a:rect r="r" b="b" t="t" l="l"/>
              <a:pathLst>
                <a:path h="6684137" w="11975846">
                  <a:moveTo>
                    <a:pt x="0" y="0"/>
                  </a:moveTo>
                  <a:lnTo>
                    <a:pt x="11975846" y="0"/>
                  </a:lnTo>
                  <a:lnTo>
                    <a:pt x="11975846" y="6684137"/>
                  </a:lnTo>
                  <a:lnTo>
                    <a:pt x="0" y="668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" t="0" r="-3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613356" y="2540203"/>
            <a:ext cx="4591945" cy="937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Online shopping relies heavily on customer reviews, but a significant problem undermines this trust: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13356" y="3581248"/>
            <a:ext cx="4591945" cy="254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312"/>
              </a:lnSpc>
              <a:buFont typeface="Arial"/>
              <a:buChar char="•"/>
            </a:pPr>
            <a:r>
              <a:rPr lang="en-US" b="true" sz="1687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Prevalence:</a:t>
            </a: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30-40% of online reviews are estimated to be fake.</a:t>
            </a:r>
          </a:p>
          <a:p>
            <a:pPr algn="l" marL="254496" indent="-127248" lvl="1">
              <a:lnSpc>
                <a:spcPts val="2312"/>
              </a:lnSpc>
              <a:buFont typeface="Arial"/>
              <a:buChar char="•"/>
            </a:pPr>
            <a:r>
              <a:rPr lang="en-US" b="true" sz="1687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Financial Impact:</a:t>
            </a: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This translates to an estimated </a:t>
            </a:r>
            <a:r>
              <a:rPr lang="en-US" sz="1687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$152 billion</a:t>
            </a: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in annual consumer losses globally.</a:t>
            </a:r>
          </a:p>
          <a:p>
            <a:pPr algn="l" marL="254496" indent="-127248" lvl="1">
              <a:lnSpc>
                <a:spcPts val="2312"/>
              </a:lnSpc>
              <a:buFont typeface="Arial"/>
              <a:buChar char="•"/>
            </a:pPr>
            <a:r>
              <a:rPr lang="en-US" b="true" sz="1687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Credibility Erosion:</a:t>
            </a: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Both consumers and legitimate businesses suffer from this deception.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13356" y="6256439"/>
            <a:ext cx="2554929" cy="34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Pain Points: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13356" y="6723907"/>
            <a:ext cx="4591945" cy="194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312"/>
              </a:lnSpc>
              <a:buFont typeface="Arial"/>
              <a:buChar char="•"/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Consumers are misled, making poor purchasing decisions.</a:t>
            </a:r>
          </a:p>
          <a:p>
            <a:pPr algn="l" marL="254496" indent="-127248" lvl="1">
              <a:lnSpc>
                <a:spcPts val="2312"/>
              </a:lnSpc>
              <a:buFont typeface="Arial"/>
              <a:buChar char="•"/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Authentic businesses lose credibility and sales.</a:t>
            </a:r>
          </a:p>
          <a:p>
            <a:pPr algn="l" marL="254496" indent="-127248" lvl="1">
              <a:lnSpc>
                <a:spcPts val="2312"/>
              </a:lnSpc>
              <a:buFont typeface="Arial"/>
              <a:buChar char="•"/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Manual detection is impossible due to the sheer volume of reviews.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1373686"/>
            <a:ext cx="11392195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ByteMind: Our AI-Powered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2785472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ByteMind leverages advanced AI to combat review fraud, ensuring a more trustworthy online shopping experience.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47159" y="3695995"/>
            <a:ext cx="748008" cy="748008"/>
          </a:xfrm>
          <a:custGeom>
            <a:avLst/>
            <a:gdLst/>
            <a:ahLst/>
            <a:cxnLst/>
            <a:rect r="r" b="b" t="t" l="l"/>
            <a:pathLst>
              <a:path h="748008" w="748008">
                <a:moveTo>
                  <a:pt x="0" y="0"/>
                </a:moveTo>
                <a:lnTo>
                  <a:pt x="748008" y="0"/>
                </a:lnTo>
                <a:lnTo>
                  <a:pt x="748008" y="748008"/>
                </a:lnTo>
                <a:lnTo>
                  <a:pt x="0" y="74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164" r="0" b="-316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69166" y="3676945"/>
            <a:ext cx="3543005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AI-Powered Detection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69166" y="4220166"/>
            <a:ext cx="4026541" cy="201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Utilizes sophisticated pattern recognition and Natural Language Processing (NLP) to identify fraudulent reviews.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569716" y="3695995"/>
            <a:ext cx="748008" cy="748008"/>
          </a:xfrm>
          <a:custGeom>
            <a:avLst/>
            <a:gdLst/>
            <a:ahLst/>
            <a:cxnLst/>
            <a:rect r="r" b="b" t="t" l="l"/>
            <a:pathLst>
              <a:path h="748008" w="748008">
                <a:moveTo>
                  <a:pt x="0" y="0"/>
                </a:moveTo>
                <a:lnTo>
                  <a:pt x="748008" y="0"/>
                </a:lnTo>
                <a:lnTo>
                  <a:pt x="748008" y="748008"/>
                </a:lnTo>
                <a:lnTo>
                  <a:pt x="0" y="7480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32" r="0" b="-63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691733" y="3676945"/>
            <a:ext cx="3520230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Real-Time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91733" y="4220166"/>
            <a:ext cx="4026541" cy="201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Delivers near-instantaneous results, processing reviews with less than 100ms response time.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092283" y="3695995"/>
            <a:ext cx="748008" cy="748008"/>
          </a:xfrm>
          <a:custGeom>
            <a:avLst/>
            <a:gdLst/>
            <a:ahLst/>
            <a:cxnLst/>
            <a:rect r="r" b="b" t="t" l="l"/>
            <a:pathLst>
              <a:path h="748008" w="748008">
                <a:moveTo>
                  <a:pt x="0" y="0"/>
                </a:moveTo>
                <a:lnTo>
                  <a:pt x="748008" y="0"/>
                </a:lnTo>
                <a:lnTo>
                  <a:pt x="748008" y="748008"/>
                </a:lnTo>
                <a:lnTo>
                  <a:pt x="0" y="7480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4683" t="0" r="-24684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214299" y="3676945"/>
            <a:ext cx="4026541" cy="89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AWS Serverless Architecture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14299" y="4660106"/>
            <a:ext cx="4026541" cy="153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Built on a robust, scalable, and cost-effective cloud infrastructure.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47159" y="6828977"/>
            <a:ext cx="748008" cy="748008"/>
          </a:xfrm>
          <a:custGeom>
            <a:avLst/>
            <a:gdLst/>
            <a:ahLst/>
            <a:cxnLst/>
            <a:rect r="r" b="b" t="t" l="l"/>
            <a:pathLst>
              <a:path h="748008" w="748008">
                <a:moveTo>
                  <a:pt x="0" y="0"/>
                </a:moveTo>
                <a:lnTo>
                  <a:pt x="748008" y="0"/>
                </a:lnTo>
                <a:lnTo>
                  <a:pt x="748008" y="748008"/>
                </a:lnTo>
                <a:lnTo>
                  <a:pt x="0" y="7480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594" r="0" b="-759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69166" y="6809927"/>
            <a:ext cx="3520230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High Accuracy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9166" y="7353148"/>
            <a:ext cx="4026541" cy="153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Achieves over 80% accuracy in classifying reviews as fake or genuine.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6569716" y="6828977"/>
            <a:ext cx="748008" cy="748008"/>
          </a:xfrm>
          <a:custGeom>
            <a:avLst/>
            <a:gdLst/>
            <a:ahLst/>
            <a:cxnLst/>
            <a:rect r="r" b="b" t="t" l="l"/>
            <a:pathLst>
              <a:path h="748008" w="748008">
                <a:moveTo>
                  <a:pt x="0" y="0"/>
                </a:moveTo>
                <a:lnTo>
                  <a:pt x="748008" y="0"/>
                </a:lnTo>
                <a:lnTo>
                  <a:pt x="748008" y="748008"/>
                </a:lnTo>
                <a:lnTo>
                  <a:pt x="0" y="7480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8227" r="0" b="-822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691733" y="6809927"/>
            <a:ext cx="3520230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Easy Integration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91733" y="7353148"/>
            <a:ext cx="4026541" cy="153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Provides a RESTful API for seamless integration into any e-commerce platform.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3925" y="697259"/>
            <a:ext cx="6805612" cy="80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ByteMind: How It 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1638" y="1967951"/>
            <a:ext cx="16304571" cy="7030936"/>
            <a:chOff x="0" y="0"/>
            <a:chExt cx="21739428" cy="937458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739479" cy="9374632"/>
            </a:xfrm>
            <a:custGeom>
              <a:avLst/>
              <a:gdLst/>
              <a:ahLst/>
              <a:cxnLst/>
              <a:rect r="r" b="b" t="t" l="l"/>
              <a:pathLst>
                <a:path h="9374632" w="21739479">
                  <a:moveTo>
                    <a:pt x="0" y="0"/>
                  </a:moveTo>
                  <a:lnTo>
                    <a:pt x="21739479" y="0"/>
                  </a:lnTo>
                  <a:lnTo>
                    <a:pt x="21739479" y="9374632"/>
                  </a:lnTo>
                  <a:lnTo>
                    <a:pt x="0" y="9374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" t="0" r="-1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088737" y="7650604"/>
            <a:ext cx="3481149" cy="463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Pattern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88737" y="6023058"/>
            <a:ext cx="3481149" cy="463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AI Lambda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88737" y="4411942"/>
            <a:ext cx="3481149" cy="463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API Gateway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88737" y="2784396"/>
            <a:ext cx="3481149" cy="463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User Submits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3925" y="9184634"/>
            <a:ext cx="16440150" cy="47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0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Our streamlined, serverless architecture ensures efficient and rapid fake review detection.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21927" y="614067"/>
            <a:ext cx="8314134" cy="70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Technology Stack &amp; AWS Services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927" y="3707759"/>
            <a:ext cx="4898231" cy="103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ByteMind is engineered for performance, scalability, and reliability, leveraging leading technologies and AWS cloud services.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927" y="4901956"/>
            <a:ext cx="2725341" cy="35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Backend: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927" y="5393236"/>
            <a:ext cx="4898231" cy="37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Python 3.12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1927" y="5929903"/>
            <a:ext cx="2725341" cy="35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AI/ML Core: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1927" y="6421193"/>
            <a:ext cx="4898231" cy="115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Natural Language Processing (NLP)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Pattern Recognition Algorithms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Regex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94639" y="1753048"/>
            <a:ext cx="3409655" cy="35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Cloud Infrastructure (AWS):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94639" y="2244328"/>
            <a:ext cx="9580959" cy="115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b="true" sz="1812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AWS Lambda:</a:t>
            </a: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Serverless compute for automatic scaling and execution.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b="true" sz="1812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API Gateway:</a:t>
            </a: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Manages all incoming RESTful API requests.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b="true" sz="1812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CloudWatch:</a:t>
            </a: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Provides comprehensive monitoring and logging for operational insights.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94639" y="3517259"/>
            <a:ext cx="9580959" cy="37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Benefits:</a:t>
            </a: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Highly cost-effective, infinitely scalable, and ensures 99.9% uptime.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094639" y="4095302"/>
            <a:ext cx="9580959" cy="5347392"/>
            <a:chOff x="0" y="0"/>
            <a:chExt cx="12774612" cy="712985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2774676" cy="7129907"/>
            </a:xfrm>
            <a:custGeom>
              <a:avLst/>
              <a:gdLst/>
              <a:ahLst/>
              <a:cxnLst/>
              <a:rect r="r" b="b" t="t" l="l"/>
              <a:pathLst>
                <a:path h="7129907" w="12774676">
                  <a:moveTo>
                    <a:pt x="0" y="0"/>
                  </a:moveTo>
                  <a:lnTo>
                    <a:pt x="12774676" y="0"/>
                  </a:lnTo>
                  <a:lnTo>
                    <a:pt x="12774676" y="7129907"/>
                  </a:lnTo>
                  <a:lnTo>
                    <a:pt x="0" y="7129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2" t="0" r="-41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95873" y="1691135"/>
            <a:ext cx="10795997" cy="73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1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AI Detection Methodology: Pattern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5873" y="2735609"/>
            <a:ext cx="15296255" cy="3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ByteMind identifies fake reviews by analyzing a diverse set of linguistic and structural patterns, indicative of deceptive intent.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81585" y="3323777"/>
            <a:ext cx="5003749" cy="1350912"/>
            <a:chOff x="0" y="0"/>
            <a:chExt cx="6671666" cy="1801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6633591" cy="1763141"/>
            </a:xfrm>
            <a:custGeom>
              <a:avLst/>
              <a:gdLst/>
              <a:ahLst/>
              <a:cxnLst/>
              <a:rect r="r" b="b" t="t" l="l"/>
              <a:pathLst>
                <a:path h="1763141" w="6633591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6447790" y="0"/>
                  </a:lnTo>
                  <a:cubicBezTo>
                    <a:pt x="6550406" y="0"/>
                    <a:pt x="6633591" y="81915"/>
                    <a:pt x="6633591" y="182880"/>
                  </a:cubicBezTo>
                  <a:lnTo>
                    <a:pt x="6633591" y="1580261"/>
                  </a:lnTo>
                  <a:cubicBezTo>
                    <a:pt x="6633591" y="1681226"/>
                    <a:pt x="6550406" y="1763141"/>
                    <a:pt x="6447790" y="1763141"/>
                  </a:cubicBezTo>
                  <a:lnTo>
                    <a:pt x="185801" y="1763141"/>
                  </a:lnTo>
                  <a:cubicBezTo>
                    <a:pt x="83185" y="1763141"/>
                    <a:pt x="0" y="1681226"/>
                    <a:pt x="0" y="1580261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71691" cy="1801241"/>
            </a:xfrm>
            <a:custGeom>
              <a:avLst/>
              <a:gdLst/>
              <a:ahLst/>
              <a:cxnLst/>
              <a:rect r="r" b="b" t="t" l="l"/>
              <a:pathLst>
                <a:path h="1801241" w="6671691">
                  <a:moveTo>
                    <a:pt x="0" y="201930"/>
                  </a:moveTo>
                  <a:cubicBezTo>
                    <a:pt x="0" y="90170"/>
                    <a:pt x="91948" y="0"/>
                    <a:pt x="204851" y="0"/>
                  </a:cubicBezTo>
                  <a:lnTo>
                    <a:pt x="6466840" y="0"/>
                  </a:lnTo>
                  <a:lnTo>
                    <a:pt x="6466840" y="19050"/>
                  </a:lnTo>
                  <a:lnTo>
                    <a:pt x="6466840" y="0"/>
                  </a:lnTo>
                  <a:cubicBezTo>
                    <a:pt x="6579616" y="0"/>
                    <a:pt x="6671691" y="90170"/>
                    <a:pt x="6671691" y="201930"/>
                  </a:cubicBezTo>
                  <a:lnTo>
                    <a:pt x="6652641" y="201930"/>
                  </a:lnTo>
                  <a:lnTo>
                    <a:pt x="6671691" y="201930"/>
                  </a:lnTo>
                  <a:lnTo>
                    <a:pt x="6671691" y="1599311"/>
                  </a:lnTo>
                  <a:lnTo>
                    <a:pt x="6652641" y="1599311"/>
                  </a:lnTo>
                  <a:lnTo>
                    <a:pt x="6671691" y="1599311"/>
                  </a:lnTo>
                  <a:cubicBezTo>
                    <a:pt x="6671691" y="1711071"/>
                    <a:pt x="6579743" y="1801241"/>
                    <a:pt x="6466840" y="1801241"/>
                  </a:cubicBezTo>
                  <a:lnTo>
                    <a:pt x="6466840" y="1782191"/>
                  </a:lnTo>
                  <a:lnTo>
                    <a:pt x="6466840" y="1801241"/>
                  </a:lnTo>
                  <a:lnTo>
                    <a:pt x="204851" y="1801241"/>
                  </a:lnTo>
                  <a:lnTo>
                    <a:pt x="204851" y="1782191"/>
                  </a:lnTo>
                  <a:lnTo>
                    <a:pt x="204851" y="1801241"/>
                  </a:lnTo>
                  <a:cubicBezTo>
                    <a:pt x="92075" y="1801241"/>
                    <a:pt x="0" y="1711071"/>
                    <a:pt x="0" y="159931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99311"/>
                  </a:lnTo>
                  <a:lnTo>
                    <a:pt x="19050" y="1599311"/>
                  </a:lnTo>
                  <a:lnTo>
                    <a:pt x="38100" y="1599311"/>
                  </a:lnTo>
                  <a:cubicBezTo>
                    <a:pt x="38100" y="1689481"/>
                    <a:pt x="112522" y="1763141"/>
                    <a:pt x="204851" y="1763141"/>
                  </a:cubicBezTo>
                  <a:lnTo>
                    <a:pt x="6466840" y="1763141"/>
                  </a:lnTo>
                  <a:cubicBezTo>
                    <a:pt x="6559169" y="1763141"/>
                    <a:pt x="6633591" y="1689481"/>
                    <a:pt x="6633591" y="1599311"/>
                  </a:cubicBezTo>
                  <a:lnTo>
                    <a:pt x="6633591" y="201930"/>
                  </a:lnTo>
                  <a:cubicBezTo>
                    <a:pt x="6633591" y="111760"/>
                    <a:pt x="6559169" y="38100"/>
                    <a:pt x="6466840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7298" y="3338065"/>
            <a:ext cx="114300" cy="1322337"/>
            <a:chOff x="0" y="0"/>
            <a:chExt cx="152400" cy="17631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" cy="1763141"/>
            </a:xfrm>
            <a:custGeom>
              <a:avLst/>
              <a:gdLst/>
              <a:ahLst/>
              <a:cxnLst/>
              <a:rect r="r" b="b" t="t" l="l"/>
              <a:pathLst>
                <a:path h="1763141" w="15240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5283" y="0"/>
                  </a:lnTo>
                  <a:cubicBezTo>
                    <a:pt x="131318" y="0"/>
                    <a:pt x="152400" y="21082"/>
                    <a:pt x="152400" y="47117"/>
                  </a:cubicBezTo>
                  <a:lnTo>
                    <a:pt x="152400" y="1716024"/>
                  </a:lnTo>
                  <a:cubicBezTo>
                    <a:pt x="152400" y="1742059"/>
                    <a:pt x="131318" y="1763141"/>
                    <a:pt x="105283" y="1763141"/>
                  </a:cubicBezTo>
                  <a:lnTo>
                    <a:pt x="47117" y="1763141"/>
                  </a:lnTo>
                  <a:cubicBezTo>
                    <a:pt x="21082" y="1763141"/>
                    <a:pt x="0" y="1742059"/>
                    <a:pt x="0" y="1716024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45621" y="3583038"/>
            <a:ext cx="2772518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Excessive Punctuation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45621" y="4002434"/>
            <a:ext cx="4361412" cy="3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E.g., "Amazing!!!! Highly recommend!!"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42049" y="3323777"/>
            <a:ext cx="5003749" cy="1350912"/>
            <a:chOff x="0" y="0"/>
            <a:chExt cx="6671666" cy="1801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6633591" cy="1763141"/>
            </a:xfrm>
            <a:custGeom>
              <a:avLst/>
              <a:gdLst/>
              <a:ahLst/>
              <a:cxnLst/>
              <a:rect r="r" b="b" t="t" l="l"/>
              <a:pathLst>
                <a:path h="1763141" w="6633591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6447790" y="0"/>
                  </a:lnTo>
                  <a:cubicBezTo>
                    <a:pt x="6550406" y="0"/>
                    <a:pt x="6633591" y="81915"/>
                    <a:pt x="6633591" y="182880"/>
                  </a:cubicBezTo>
                  <a:lnTo>
                    <a:pt x="6633591" y="1580261"/>
                  </a:lnTo>
                  <a:cubicBezTo>
                    <a:pt x="6633591" y="1681226"/>
                    <a:pt x="6550406" y="1763141"/>
                    <a:pt x="6447790" y="1763141"/>
                  </a:cubicBezTo>
                  <a:lnTo>
                    <a:pt x="185801" y="1763141"/>
                  </a:lnTo>
                  <a:cubicBezTo>
                    <a:pt x="83185" y="1763141"/>
                    <a:pt x="0" y="1681226"/>
                    <a:pt x="0" y="1580261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71691" cy="1801241"/>
            </a:xfrm>
            <a:custGeom>
              <a:avLst/>
              <a:gdLst/>
              <a:ahLst/>
              <a:cxnLst/>
              <a:rect r="r" b="b" t="t" l="l"/>
              <a:pathLst>
                <a:path h="1801241" w="6671691">
                  <a:moveTo>
                    <a:pt x="0" y="201930"/>
                  </a:moveTo>
                  <a:cubicBezTo>
                    <a:pt x="0" y="90170"/>
                    <a:pt x="91948" y="0"/>
                    <a:pt x="204851" y="0"/>
                  </a:cubicBezTo>
                  <a:lnTo>
                    <a:pt x="6466840" y="0"/>
                  </a:lnTo>
                  <a:lnTo>
                    <a:pt x="6466840" y="19050"/>
                  </a:lnTo>
                  <a:lnTo>
                    <a:pt x="6466840" y="0"/>
                  </a:lnTo>
                  <a:cubicBezTo>
                    <a:pt x="6579616" y="0"/>
                    <a:pt x="6671691" y="90170"/>
                    <a:pt x="6671691" y="201930"/>
                  </a:cubicBezTo>
                  <a:lnTo>
                    <a:pt x="6652641" y="201930"/>
                  </a:lnTo>
                  <a:lnTo>
                    <a:pt x="6671691" y="201930"/>
                  </a:lnTo>
                  <a:lnTo>
                    <a:pt x="6671691" y="1599311"/>
                  </a:lnTo>
                  <a:lnTo>
                    <a:pt x="6652641" y="1599311"/>
                  </a:lnTo>
                  <a:lnTo>
                    <a:pt x="6671691" y="1599311"/>
                  </a:lnTo>
                  <a:cubicBezTo>
                    <a:pt x="6671691" y="1711071"/>
                    <a:pt x="6579743" y="1801241"/>
                    <a:pt x="6466840" y="1801241"/>
                  </a:cubicBezTo>
                  <a:lnTo>
                    <a:pt x="6466840" y="1782191"/>
                  </a:lnTo>
                  <a:lnTo>
                    <a:pt x="6466840" y="1801241"/>
                  </a:lnTo>
                  <a:lnTo>
                    <a:pt x="204851" y="1801241"/>
                  </a:lnTo>
                  <a:lnTo>
                    <a:pt x="204851" y="1782191"/>
                  </a:lnTo>
                  <a:lnTo>
                    <a:pt x="204851" y="1801241"/>
                  </a:lnTo>
                  <a:cubicBezTo>
                    <a:pt x="92075" y="1801241"/>
                    <a:pt x="0" y="1711071"/>
                    <a:pt x="0" y="159931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99311"/>
                  </a:lnTo>
                  <a:lnTo>
                    <a:pt x="19050" y="1599311"/>
                  </a:lnTo>
                  <a:lnTo>
                    <a:pt x="38100" y="1599311"/>
                  </a:lnTo>
                  <a:cubicBezTo>
                    <a:pt x="38100" y="1689481"/>
                    <a:pt x="112522" y="1763141"/>
                    <a:pt x="204851" y="1763141"/>
                  </a:cubicBezTo>
                  <a:lnTo>
                    <a:pt x="6466840" y="1763141"/>
                  </a:lnTo>
                  <a:cubicBezTo>
                    <a:pt x="6559169" y="1763141"/>
                    <a:pt x="6633591" y="1689481"/>
                    <a:pt x="6633591" y="1599311"/>
                  </a:cubicBezTo>
                  <a:lnTo>
                    <a:pt x="6633591" y="201930"/>
                  </a:lnTo>
                  <a:cubicBezTo>
                    <a:pt x="6633591" y="111760"/>
                    <a:pt x="6559169" y="38100"/>
                    <a:pt x="6466840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627762" y="3338065"/>
            <a:ext cx="114300" cy="1322337"/>
            <a:chOff x="0" y="0"/>
            <a:chExt cx="152400" cy="17631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1763141"/>
            </a:xfrm>
            <a:custGeom>
              <a:avLst/>
              <a:gdLst/>
              <a:ahLst/>
              <a:cxnLst/>
              <a:rect r="r" b="b" t="t" l="l"/>
              <a:pathLst>
                <a:path h="1763141" w="15240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5283" y="0"/>
                  </a:lnTo>
                  <a:cubicBezTo>
                    <a:pt x="131318" y="0"/>
                    <a:pt x="152400" y="21082"/>
                    <a:pt x="152400" y="47117"/>
                  </a:cubicBezTo>
                  <a:lnTo>
                    <a:pt x="152400" y="1716024"/>
                  </a:lnTo>
                  <a:cubicBezTo>
                    <a:pt x="152400" y="1742059"/>
                    <a:pt x="131318" y="1763141"/>
                    <a:pt x="105283" y="1763141"/>
                  </a:cubicBezTo>
                  <a:lnTo>
                    <a:pt x="47117" y="1763141"/>
                  </a:lnTo>
                  <a:cubicBezTo>
                    <a:pt x="21082" y="1763141"/>
                    <a:pt x="0" y="1742059"/>
                    <a:pt x="0" y="1716024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006085" y="3583038"/>
            <a:ext cx="2771032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Repeated Superlatives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06085" y="4002434"/>
            <a:ext cx="4361412" cy="3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E.g., "Best best product ever."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802513" y="3323777"/>
            <a:ext cx="5003902" cy="1350912"/>
            <a:chOff x="0" y="0"/>
            <a:chExt cx="6671869" cy="1801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19050"/>
              <a:ext cx="6633845" cy="1763141"/>
            </a:xfrm>
            <a:custGeom>
              <a:avLst/>
              <a:gdLst/>
              <a:ahLst/>
              <a:cxnLst/>
              <a:rect r="r" b="b" t="t" l="l"/>
              <a:pathLst>
                <a:path h="1763141" w="6633845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6448044" y="0"/>
                  </a:lnTo>
                  <a:cubicBezTo>
                    <a:pt x="6550660" y="0"/>
                    <a:pt x="6633845" y="81915"/>
                    <a:pt x="6633845" y="182880"/>
                  </a:cubicBezTo>
                  <a:lnTo>
                    <a:pt x="6633845" y="1580261"/>
                  </a:lnTo>
                  <a:cubicBezTo>
                    <a:pt x="6633845" y="1681226"/>
                    <a:pt x="6550660" y="1763141"/>
                    <a:pt x="6448044" y="1763141"/>
                  </a:cubicBezTo>
                  <a:lnTo>
                    <a:pt x="185801" y="1763141"/>
                  </a:lnTo>
                  <a:cubicBezTo>
                    <a:pt x="83185" y="1763141"/>
                    <a:pt x="0" y="1681226"/>
                    <a:pt x="0" y="1580261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71945" cy="1801241"/>
            </a:xfrm>
            <a:custGeom>
              <a:avLst/>
              <a:gdLst/>
              <a:ahLst/>
              <a:cxnLst/>
              <a:rect r="r" b="b" t="t" l="l"/>
              <a:pathLst>
                <a:path h="1801241" w="6671945">
                  <a:moveTo>
                    <a:pt x="0" y="201930"/>
                  </a:moveTo>
                  <a:cubicBezTo>
                    <a:pt x="0" y="90170"/>
                    <a:pt x="91948" y="0"/>
                    <a:pt x="204851" y="0"/>
                  </a:cubicBezTo>
                  <a:lnTo>
                    <a:pt x="6467094" y="0"/>
                  </a:lnTo>
                  <a:lnTo>
                    <a:pt x="6467094" y="19050"/>
                  </a:lnTo>
                  <a:lnTo>
                    <a:pt x="6467094" y="0"/>
                  </a:lnTo>
                  <a:cubicBezTo>
                    <a:pt x="6579870" y="0"/>
                    <a:pt x="6671945" y="90170"/>
                    <a:pt x="6671945" y="201930"/>
                  </a:cubicBezTo>
                  <a:lnTo>
                    <a:pt x="6652895" y="201930"/>
                  </a:lnTo>
                  <a:lnTo>
                    <a:pt x="6671945" y="201930"/>
                  </a:lnTo>
                  <a:lnTo>
                    <a:pt x="6671945" y="1599311"/>
                  </a:lnTo>
                  <a:lnTo>
                    <a:pt x="6652895" y="1599311"/>
                  </a:lnTo>
                  <a:lnTo>
                    <a:pt x="6671945" y="1599311"/>
                  </a:lnTo>
                  <a:cubicBezTo>
                    <a:pt x="6671945" y="1711071"/>
                    <a:pt x="6579997" y="1801241"/>
                    <a:pt x="6467094" y="1801241"/>
                  </a:cubicBezTo>
                  <a:lnTo>
                    <a:pt x="6467094" y="1782191"/>
                  </a:lnTo>
                  <a:lnTo>
                    <a:pt x="6467094" y="1801241"/>
                  </a:lnTo>
                  <a:lnTo>
                    <a:pt x="204851" y="1801241"/>
                  </a:lnTo>
                  <a:lnTo>
                    <a:pt x="204851" y="1782191"/>
                  </a:lnTo>
                  <a:lnTo>
                    <a:pt x="204851" y="1801241"/>
                  </a:lnTo>
                  <a:cubicBezTo>
                    <a:pt x="92075" y="1801241"/>
                    <a:pt x="0" y="1711071"/>
                    <a:pt x="0" y="159931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99311"/>
                  </a:lnTo>
                  <a:lnTo>
                    <a:pt x="19050" y="1599311"/>
                  </a:lnTo>
                  <a:lnTo>
                    <a:pt x="38100" y="1599311"/>
                  </a:lnTo>
                  <a:cubicBezTo>
                    <a:pt x="38100" y="1689481"/>
                    <a:pt x="112522" y="1763141"/>
                    <a:pt x="204851" y="1763141"/>
                  </a:cubicBezTo>
                  <a:lnTo>
                    <a:pt x="6467094" y="1763141"/>
                  </a:lnTo>
                  <a:cubicBezTo>
                    <a:pt x="6559423" y="1763141"/>
                    <a:pt x="6633845" y="1689481"/>
                    <a:pt x="6633845" y="1599311"/>
                  </a:cubicBezTo>
                  <a:lnTo>
                    <a:pt x="6633845" y="201930"/>
                  </a:lnTo>
                  <a:cubicBezTo>
                    <a:pt x="6633845" y="111760"/>
                    <a:pt x="6559423" y="38100"/>
                    <a:pt x="6467094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788226" y="3338065"/>
            <a:ext cx="114300" cy="1322337"/>
            <a:chOff x="0" y="0"/>
            <a:chExt cx="152400" cy="17631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2400" cy="1763141"/>
            </a:xfrm>
            <a:custGeom>
              <a:avLst/>
              <a:gdLst/>
              <a:ahLst/>
              <a:cxnLst/>
              <a:rect r="r" b="b" t="t" l="l"/>
              <a:pathLst>
                <a:path h="1763141" w="15240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5283" y="0"/>
                  </a:lnTo>
                  <a:cubicBezTo>
                    <a:pt x="131318" y="0"/>
                    <a:pt x="152400" y="21082"/>
                    <a:pt x="152400" y="47117"/>
                  </a:cubicBezTo>
                  <a:lnTo>
                    <a:pt x="152400" y="1716024"/>
                  </a:lnTo>
                  <a:cubicBezTo>
                    <a:pt x="152400" y="1742059"/>
                    <a:pt x="131318" y="1763141"/>
                    <a:pt x="105283" y="1763141"/>
                  </a:cubicBezTo>
                  <a:lnTo>
                    <a:pt x="47117" y="1763141"/>
                  </a:lnTo>
                  <a:cubicBezTo>
                    <a:pt x="21082" y="1763141"/>
                    <a:pt x="0" y="1742059"/>
                    <a:pt x="0" y="1716024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166549" y="3583038"/>
            <a:ext cx="2771032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Urgency Language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66549" y="4002434"/>
            <a:ext cx="4361555" cy="3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E.g., "Buy now! Limited time offer!"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481585" y="4831404"/>
            <a:ext cx="5003749" cy="1350912"/>
            <a:chOff x="0" y="0"/>
            <a:chExt cx="6671666" cy="1801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9050" y="19050"/>
              <a:ext cx="6633591" cy="1763141"/>
            </a:xfrm>
            <a:custGeom>
              <a:avLst/>
              <a:gdLst/>
              <a:ahLst/>
              <a:cxnLst/>
              <a:rect r="r" b="b" t="t" l="l"/>
              <a:pathLst>
                <a:path h="1763141" w="6633591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6447790" y="0"/>
                  </a:lnTo>
                  <a:cubicBezTo>
                    <a:pt x="6550406" y="0"/>
                    <a:pt x="6633591" y="81915"/>
                    <a:pt x="6633591" y="182880"/>
                  </a:cubicBezTo>
                  <a:lnTo>
                    <a:pt x="6633591" y="1580261"/>
                  </a:lnTo>
                  <a:cubicBezTo>
                    <a:pt x="6633591" y="1681226"/>
                    <a:pt x="6550406" y="1763141"/>
                    <a:pt x="6447790" y="1763141"/>
                  </a:cubicBezTo>
                  <a:lnTo>
                    <a:pt x="185801" y="1763141"/>
                  </a:lnTo>
                  <a:cubicBezTo>
                    <a:pt x="83185" y="1763141"/>
                    <a:pt x="0" y="1681226"/>
                    <a:pt x="0" y="1580261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71691" cy="1801241"/>
            </a:xfrm>
            <a:custGeom>
              <a:avLst/>
              <a:gdLst/>
              <a:ahLst/>
              <a:cxnLst/>
              <a:rect r="r" b="b" t="t" l="l"/>
              <a:pathLst>
                <a:path h="1801241" w="6671691">
                  <a:moveTo>
                    <a:pt x="0" y="201930"/>
                  </a:moveTo>
                  <a:cubicBezTo>
                    <a:pt x="0" y="90170"/>
                    <a:pt x="91948" y="0"/>
                    <a:pt x="204851" y="0"/>
                  </a:cubicBezTo>
                  <a:lnTo>
                    <a:pt x="6466840" y="0"/>
                  </a:lnTo>
                  <a:lnTo>
                    <a:pt x="6466840" y="19050"/>
                  </a:lnTo>
                  <a:lnTo>
                    <a:pt x="6466840" y="0"/>
                  </a:lnTo>
                  <a:cubicBezTo>
                    <a:pt x="6579616" y="0"/>
                    <a:pt x="6671691" y="90170"/>
                    <a:pt x="6671691" y="201930"/>
                  </a:cubicBezTo>
                  <a:lnTo>
                    <a:pt x="6652641" y="201930"/>
                  </a:lnTo>
                  <a:lnTo>
                    <a:pt x="6671691" y="201930"/>
                  </a:lnTo>
                  <a:lnTo>
                    <a:pt x="6671691" y="1599311"/>
                  </a:lnTo>
                  <a:lnTo>
                    <a:pt x="6652641" y="1599311"/>
                  </a:lnTo>
                  <a:lnTo>
                    <a:pt x="6671691" y="1599311"/>
                  </a:lnTo>
                  <a:cubicBezTo>
                    <a:pt x="6671691" y="1711071"/>
                    <a:pt x="6579743" y="1801241"/>
                    <a:pt x="6466840" y="1801241"/>
                  </a:cubicBezTo>
                  <a:lnTo>
                    <a:pt x="6466840" y="1782191"/>
                  </a:lnTo>
                  <a:lnTo>
                    <a:pt x="6466840" y="1801241"/>
                  </a:lnTo>
                  <a:lnTo>
                    <a:pt x="204851" y="1801241"/>
                  </a:lnTo>
                  <a:lnTo>
                    <a:pt x="204851" y="1782191"/>
                  </a:lnTo>
                  <a:lnTo>
                    <a:pt x="204851" y="1801241"/>
                  </a:lnTo>
                  <a:cubicBezTo>
                    <a:pt x="92075" y="1801241"/>
                    <a:pt x="0" y="1711071"/>
                    <a:pt x="0" y="159931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99311"/>
                  </a:lnTo>
                  <a:lnTo>
                    <a:pt x="19050" y="1599311"/>
                  </a:lnTo>
                  <a:lnTo>
                    <a:pt x="38100" y="1599311"/>
                  </a:lnTo>
                  <a:cubicBezTo>
                    <a:pt x="38100" y="1689481"/>
                    <a:pt x="112522" y="1763141"/>
                    <a:pt x="204851" y="1763141"/>
                  </a:cubicBezTo>
                  <a:lnTo>
                    <a:pt x="6466840" y="1763141"/>
                  </a:lnTo>
                  <a:cubicBezTo>
                    <a:pt x="6559169" y="1763141"/>
                    <a:pt x="6633591" y="1689481"/>
                    <a:pt x="6633591" y="1599311"/>
                  </a:cubicBezTo>
                  <a:lnTo>
                    <a:pt x="6633591" y="201930"/>
                  </a:lnTo>
                  <a:cubicBezTo>
                    <a:pt x="6633591" y="111760"/>
                    <a:pt x="6559169" y="38100"/>
                    <a:pt x="6466840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67298" y="4845691"/>
            <a:ext cx="114300" cy="1322337"/>
            <a:chOff x="0" y="0"/>
            <a:chExt cx="152400" cy="17631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2400" cy="1763141"/>
            </a:xfrm>
            <a:custGeom>
              <a:avLst/>
              <a:gdLst/>
              <a:ahLst/>
              <a:cxnLst/>
              <a:rect r="r" b="b" t="t" l="l"/>
              <a:pathLst>
                <a:path h="1763141" w="15240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5283" y="0"/>
                  </a:lnTo>
                  <a:cubicBezTo>
                    <a:pt x="131318" y="0"/>
                    <a:pt x="152400" y="21082"/>
                    <a:pt x="152400" y="47117"/>
                  </a:cubicBezTo>
                  <a:lnTo>
                    <a:pt x="152400" y="1716024"/>
                  </a:lnTo>
                  <a:cubicBezTo>
                    <a:pt x="152400" y="1742059"/>
                    <a:pt x="131318" y="1763141"/>
                    <a:pt x="105283" y="1763141"/>
                  </a:cubicBezTo>
                  <a:lnTo>
                    <a:pt x="47117" y="1763141"/>
                  </a:lnTo>
                  <a:cubicBezTo>
                    <a:pt x="21082" y="1763141"/>
                    <a:pt x="0" y="1742059"/>
                    <a:pt x="0" y="1716024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845621" y="5090665"/>
            <a:ext cx="2771032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Generic Praise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45621" y="5510060"/>
            <a:ext cx="4361412" cy="3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E.g., "Highly recommend, best ever."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642049" y="4831404"/>
            <a:ext cx="5003749" cy="1350912"/>
            <a:chOff x="0" y="0"/>
            <a:chExt cx="6671666" cy="1801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9050" y="19050"/>
              <a:ext cx="6633591" cy="1763141"/>
            </a:xfrm>
            <a:custGeom>
              <a:avLst/>
              <a:gdLst/>
              <a:ahLst/>
              <a:cxnLst/>
              <a:rect r="r" b="b" t="t" l="l"/>
              <a:pathLst>
                <a:path h="1763141" w="6633591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6447790" y="0"/>
                  </a:lnTo>
                  <a:cubicBezTo>
                    <a:pt x="6550406" y="0"/>
                    <a:pt x="6633591" y="81915"/>
                    <a:pt x="6633591" y="182880"/>
                  </a:cubicBezTo>
                  <a:lnTo>
                    <a:pt x="6633591" y="1580261"/>
                  </a:lnTo>
                  <a:cubicBezTo>
                    <a:pt x="6633591" y="1681226"/>
                    <a:pt x="6550406" y="1763141"/>
                    <a:pt x="6447790" y="1763141"/>
                  </a:cubicBezTo>
                  <a:lnTo>
                    <a:pt x="185801" y="1763141"/>
                  </a:lnTo>
                  <a:cubicBezTo>
                    <a:pt x="83185" y="1763141"/>
                    <a:pt x="0" y="1681226"/>
                    <a:pt x="0" y="1580261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671691" cy="1801241"/>
            </a:xfrm>
            <a:custGeom>
              <a:avLst/>
              <a:gdLst/>
              <a:ahLst/>
              <a:cxnLst/>
              <a:rect r="r" b="b" t="t" l="l"/>
              <a:pathLst>
                <a:path h="1801241" w="6671691">
                  <a:moveTo>
                    <a:pt x="0" y="201930"/>
                  </a:moveTo>
                  <a:cubicBezTo>
                    <a:pt x="0" y="90170"/>
                    <a:pt x="91948" y="0"/>
                    <a:pt x="204851" y="0"/>
                  </a:cubicBezTo>
                  <a:lnTo>
                    <a:pt x="6466840" y="0"/>
                  </a:lnTo>
                  <a:lnTo>
                    <a:pt x="6466840" y="19050"/>
                  </a:lnTo>
                  <a:lnTo>
                    <a:pt x="6466840" y="0"/>
                  </a:lnTo>
                  <a:cubicBezTo>
                    <a:pt x="6579616" y="0"/>
                    <a:pt x="6671691" y="90170"/>
                    <a:pt x="6671691" y="201930"/>
                  </a:cubicBezTo>
                  <a:lnTo>
                    <a:pt x="6652641" y="201930"/>
                  </a:lnTo>
                  <a:lnTo>
                    <a:pt x="6671691" y="201930"/>
                  </a:lnTo>
                  <a:lnTo>
                    <a:pt x="6671691" y="1599311"/>
                  </a:lnTo>
                  <a:lnTo>
                    <a:pt x="6652641" y="1599311"/>
                  </a:lnTo>
                  <a:lnTo>
                    <a:pt x="6671691" y="1599311"/>
                  </a:lnTo>
                  <a:cubicBezTo>
                    <a:pt x="6671691" y="1711071"/>
                    <a:pt x="6579743" y="1801241"/>
                    <a:pt x="6466840" y="1801241"/>
                  </a:cubicBezTo>
                  <a:lnTo>
                    <a:pt x="6466840" y="1782191"/>
                  </a:lnTo>
                  <a:lnTo>
                    <a:pt x="6466840" y="1801241"/>
                  </a:lnTo>
                  <a:lnTo>
                    <a:pt x="204851" y="1801241"/>
                  </a:lnTo>
                  <a:lnTo>
                    <a:pt x="204851" y="1782191"/>
                  </a:lnTo>
                  <a:lnTo>
                    <a:pt x="204851" y="1801241"/>
                  </a:lnTo>
                  <a:cubicBezTo>
                    <a:pt x="92075" y="1801241"/>
                    <a:pt x="0" y="1711071"/>
                    <a:pt x="0" y="159931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99311"/>
                  </a:lnTo>
                  <a:lnTo>
                    <a:pt x="19050" y="1599311"/>
                  </a:lnTo>
                  <a:lnTo>
                    <a:pt x="38100" y="1599311"/>
                  </a:lnTo>
                  <a:cubicBezTo>
                    <a:pt x="38100" y="1689481"/>
                    <a:pt x="112522" y="1763141"/>
                    <a:pt x="204851" y="1763141"/>
                  </a:cubicBezTo>
                  <a:lnTo>
                    <a:pt x="6466840" y="1763141"/>
                  </a:lnTo>
                  <a:cubicBezTo>
                    <a:pt x="6559169" y="1763141"/>
                    <a:pt x="6633591" y="1689481"/>
                    <a:pt x="6633591" y="1599311"/>
                  </a:cubicBezTo>
                  <a:lnTo>
                    <a:pt x="6633591" y="201930"/>
                  </a:lnTo>
                  <a:cubicBezTo>
                    <a:pt x="6633591" y="111760"/>
                    <a:pt x="6559169" y="38100"/>
                    <a:pt x="6466840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627762" y="4845691"/>
            <a:ext cx="114300" cy="1322337"/>
            <a:chOff x="0" y="0"/>
            <a:chExt cx="152400" cy="17631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2400" cy="1763141"/>
            </a:xfrm>
            <a:custGeom>
              <a:avLst/>
              <a:gdLst/>
              <a:ahLst/>
              <a:cxnLst/>
              <a:rect r="r" b="b" t="t" l="l"/>
              <a:pathLst>
                <a:path h="1763141" w="15240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5283" y="0"/>
                  </a:lnTo>
                  <a:cubicBezTo>
                    <a:pt x="131318" y="0"/>
                    <a:pt x="152400" y="21082"/>
                    <a:pt x="152400" y="47117"/>
                  </a:cubicBezTo>
                  <a:lnTo>
                    <a:pt x="152400" y="1716024"/>
                  </a:lnTo>
                  <a:cubicBezTo>
                    <a:pt x="152400" y="1742059"/>
                    <a:pt x="131318" y="1763141"/>
                    <a:pt x="105283" y="1763141"/>
                  </a:cubicBezTo>
                  <a:lnTo>
                    <a:pt x="47117" y="1763141"/>
                  </a:lnTo>
                  <a:cubicBezTo>
                    <a:pt x="21082" y="1763141"/>
                    <a:pt x="0" y="1742059"/>
                    <a:pt x="0" y="1716024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006085" y="5090665"/>
            <a:ext cx="2771032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Exaggerated Ratings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06085" y="5510060"/>
            <a:ext cx="4361412" cy="3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E.g., "5 stars!!!! A masterpiece!"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802513" y="4831404"/>
            <a:ext cx="5003902" cy="1350912"/>
            <a:chOff x="0" y="0"/>
            <a:chExt cx="6671869" cy="1801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9050" y="19050"/>
              <a:ext cx="6633845" cy="1763141"/>
            </a:xfrm>
            <a:custGeom>
              <a:avLst/>
              <a:gdLst/>
              <a:ahLst/>
              <a:cxnLst/>
              <a:rect r="r" b="b" t="t" l="l"/>
              <a:pathLst>
                <a:path h="1763141" w="6633845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6448044" y="0"/>
                  </a:lnTo>
                  <a:cubicBezTo>
                    <a:pt x="6550660" y="0"/>
                    <a:pt x="6633845" y="81915"/>
                    <a:pt x="6633845" y="182880"/>
                  </a:cubicBezTo>
                  <a:lnTo>
                    <a:pt x="6633845" y="1580261"/>
                  </a:lnTo>
                  <a:cubicBezTo>
                    <a:pt x="6633845" y="1681226"/>
                    <a:pt x="6550660" y="1763141"/>
                    <a:pt x="6448044" y="1763141"/>
                  </a:cubicBezTo>
                  <a:lnTo>
                    <a:pt x="185801" y="1763141"/>
                  </a:lnTo>
                  <a:cubicBezTo>
                    <a:pt x="83185" y="1763141"/>
                    <a:pt x="0" y="1681226"/>
                    <a:pt x="0" y="1580261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71945" cy="1801241"/>
            </a:xfrm>
            <a:custGeom>
              <a:avLst/>
              <a:gdLst/>
              <a:ahLst/>
              <a:cxnLst/>
              <a:rect r="r" b="b" t="t" l="l"/>
              <a:pathLst>
                <a:path h="1801241" w="6671945">
                  <a:moveTo>
                    <a:pt x="0" y="201930"/>
                  </a:moveTo>
                  <a:cubicBezTo>
                    <a:pt x="0" y="90170"/>
                    <a:pt x="91948" y="0"/>
                    <a:pt x="204851" y="0"/>
                  </a:cubicBezTo>
                  <a:lnTo>
                    <a:pt x="6467094" y="0"/>
                  </a:lnTo>
                  <a:lnTo>
                    <a:pt x="6467094" y="19050"/>
                  </a:lnTo>
                  <a:lnTo>
                    <a:pt x="6467094" y="0"/>
                  </a:lnTo>
                  <a:cubicBezTo>
                    <a:pt x="6579870" y="0"/>
                    <a:pt x="6671945" y="90170"/>
                    <a:pt x="6671945" y="201930"/>
                  </a:cubicBezTo>
                  <a:lnTo>
                    <a:pt x="6652895" y="201930"/>
                  </a:lnTo>
                  <a:lnTo>
                    <a:pt x="6671945" y="201930"/>
                  </a:lnTo>
                  <a:lnTo>
                    <a:pt x="6671945" y="1599311"/>
                  </a:lnTo>
                  <a:lnTo>
                    <a:pt x="6652895" y="1599311"/>
                  </a:lnTo>
                  <a:lnTo>
                    <a:pt x="6671945" y="1599311"/>
                  </a:lnTo>
                  <a:cubicBezTo>
                    <a:pt x="6671945" y="1711071"/>
                    <a:pt x="6579997" y="1801241"/>
                    <a:pt x="6467094" y="1801241"/>
                  </a:cubicBezTo>
                  <a:lnTo>
                    <a:pt x="6467094" y="1782191"/>
                  </a:lnTo>
                  <a:lnTo>
                    <a:pt x="6467094" y="1801241"/>
                  </a:lnTo>
                  <a:lnTo>
                    <a:pt x="204851" y="1801241"/>
                  </a:lnTo>
                  <a:lnTo>
                    <a:pt x="204851" y="1782191"/>
                  </a:lnTo>
                  <a:lnTo>
                    <a:pt x="204851" y="1801241"/>
                  </a:lnTo>
                  <a:cubicBezTo>
                    <a:pt x="92075" y="1801241"/>
                    <a:pt x="0" y="1711071"/>
                    <a:pt x="0" y="159931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99311"/>
                  </a:lnTo>
                  <a:lnTo>
                    <a:pt x="19050" y="1599311"/>
                  </a:lnTo>
                  <a:lnTo>
                    <a:pt x="38100" y="1599311"/>
                  </a:lnTo>
                  <a:cubicBezTo>
                    <a:pt x="38100" y="1689481"/>
                    <a:pt x="112522" y="1763141"/>
                    <a:pt x="204851" y="1763141"/>
                  </a:cubicBezTo>
                  <a:lnTo>
                    <a:pt x="6467094" y="1763141"/>
                  </a:lnTo>
                  <a:cubicBezTo>
                    <a:pt x="6559423" y="1763141"/>
                    <a:pt x="6633845" y="1689481"/>
                    <a:pt x="6633845" y="1599311"/>
                  </a:cubicBezTo>
                  <a:lnTo>
                    <a:pt x="6633845" y="201930"/>
                  </a:lnTo>
                  <a:cubicBezTo>
                    <a:pt x="6633845" y="111760"/>
                    <a:pt x="6559423" y="38100"/>
                    <a:pt x="6467094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788226" y="4845691"/>
            <a:ext cx="114300" cy="1322337"/>
            <a:chOff x="0" y="0"/>
            <a:chExt cx="152400" cy="17631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2400" cy="1763141"/>
            </a:xfrm>
            <a:custGeom>
              <a:avLst/>
              <a:gdLst/>
              <a:ahLst/>
              <a:cxnLst/>
              <a:rect r="r" b="b" t="t" l="l"/>
              <a:pathLst>
                <a:path h="1763141" w="15240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5283" y="0"/>
                  </a:lnTo>
                  <a:cubicBezTo>
                    <a:pt x="131318" y="0"/>
                    <a:pt x="152400" y="21082"/>
                    <a:pt x="152400" y="47117"/>
                  </a:cubicBezTo>
                  <a:lnTo>
                    <a:pt x="152400" y="1716024"/>
                  </a:lnTo>
                  <a:cubicBezTo>
                    <a:pt x="152400" y="1742059"/>
                    <a:pt x="131318" y="1763141"/>
                    <a:pt x="105283" y="1763141"/>
                  </a:cubicBezTo>
                  <a:lnTo>
                    <a:pt x="47117" y="1763141"/>
                  </a:lnTo>
                  <a:cubicBezTo>
                    <a:pt x="21082" y="1763141"/>
                    <a:pt x="0" y="1742059"/>
                    <a:pt x="0" y="1716024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2166549" y="5090665"/>
            <a:ext cx="2771032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Marketing Buzzwords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166549" y="5510060"/>
            <a:ext cx="4361555" cy="3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E.g., "Top quality, unbeatable price."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481585" y="6339040"/>
            <a:ext cx="5003749" cy="1687716"/>
            <a:chOff x="0" y="0"/>
            <a:chExt cx="6671666" cy="225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9050" y="19050"/>
              <a:ext cx="6633464" cy="2212213"/>
            </a:xfrm>
            <a:custGeom>
              <a:avLst/>
              <a:gdLst/>
              <a:ahLst/>
              <a:cxnLst/>
              <a:rect r="r" b="b" t="t" l="l"/>
              <a:pathLst>
                <a:path h="2212213" w="6633464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6448552" y="0"/>
                  </a:lnTo>
                  <a:cubicBezTo>
                    <a:pt x="6550660" y="0"/>
                    <a:pt x="6633464" y="81915"/>
                    <a:pt x="6633464" y="182880"/>
                  </a:cubicBezTo>
                  <a:lnTo>
                    <a:pt x="6633464" y="2029333"/>
                  </a:lnTo>
                  <a:cubicBezTo>
                    <a:pt x="6633464" y="2130298"/>
                    <a:pt x="6550660" y="2212213"/>
                    <a:pt x="6448552" y="2212213"/>
                  </a:cubicBezTo>
                  <a:lnTo>
                    <a:pt x="184912" y="2212213"/>
                  </a:lnTo>
                  <a:cubicBezTo>
                    <a:pt x="82804" y="2212213"/>
                    <a:pt x="0" y="2130298"/>
                    <a:pt x="0" y="2029333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671564" cy="2250313"/>
            </a:xfrm>
            <a:custGeom>
              <a:avLst/>
              <a:gdLst/>
              <a:ahLst/>
              <a:cxnLst/>
              <a:rect r="r" b="b" t="t" l="l"/>
              <a:pathLst>
                <a:path h="2250313" w="6671564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6467602" y="0"/>
                  </a:lnTo>
                  <a:lnTo>
                    <a:pt x="6467602" y="19050"/>
                  </a:lnTo>
                  <a:lnTo>
                    <a:pt x="6467602" y="0"/>
                  </a:lnTo>
                  <a:cubicBezTo>
                    <a:pt x="6580124" y="0"/>
                    <a:pt x="6671564" y="90170"/>
                    <a:pt x="6671564" y="201930"/>
                  </a:cubicBezTo>
                  <a:lnTo>
                    <a:pt x="6652514" y="201930"/>
                  </a:lnTo>
                  <a:lnTo>
                    <a:pt x="6671564" y="201930"/>
                  </a:lnTo>
                  <a:lnTo>
                    <a:pt x="6671564" y="2048383"/>
                  </a:lnTo>
                  <a:lnTo>
                    <a:pt x="6652514" y="2048383"/>
                  </a:lnTo>
                  <a:lnTo>
                    <a:pt x="6671564" y="2048383"/>
                  </a:lnTo>
                  <a:cubicBezTo>
                    <a:pt x="6671564" y="2160143"/>
                    <a:pt x="6579997" y="2250313"/>
                    <a:pt x="6467602" y="2250313"/>
                  </a:cubicBezTo>
                  <a:lnTo>
                    <a:pt x="6467602" y="2231263"/>
                  </a:lnTo>
                  <a:lnTo>
                    <a:pt x="6467602" y="2250313"/>
                  </a:lnTo>
                  <a:lnTo>
                    <a:pt x="203962" y="2250313"/>
                  </a:lnTo>
                  <a:lnTo>
                    <a:pt x="203962" y="2231263"/>
                  </a:lnTo>
                  <a:lnTo>
                    <a:pt x="203962" y="2250313"/>
                  </a:lnTo>
                  <a:cubicBezTo>
                    <a:pt x="91440" y="2250313"/>
                    <a:pt x="0" y="2160143"/>
                    <a:pt x="0" y="204838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048383"/>
                  </a:lnTo>
                  <a:lnTo>
                    <a:pt x="19050" y="2048383"/>
                  </a:lnTo>
                  <a:lnTo>
                    <a:pt x="38100" y="2048383"/>
                  </a:lnTo>
                  <a:cubicBezTo>
                    <a:pt x="38100" y="2138680"/>
                    <a:pt x="112141" y="2212213"/>
                    <a:pt x="203962" y="2212213"/>
                  </a:cubicBezTo>
                  <a:lnTo>
                    <a:pt x="6467602" y="2212213"/>
                  </a:lnTo>
                  <a:cubicBezTo>
                    <a:pt x="6559423" y="2212213"/>
                    <a:pt x="6633464" y="2138680"/>
                    <a:pt x="6633464" y="2048383"/>
                  </a:cubicBezTo>
                  <a:lnTo>
                    <a:pt x="6633464" y="201930"/>
                  </a:lnTo>
                  <a:cubicBezTo>
                    <a:pt x="6633464" y="111633"/>
                    <a:pt x="6559423" y="38100"/>
                    <a:pt x="6467602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67298" y="6353327"/>
            <a:ext cx="114300" cy="1659141"/>
            <a:chOff x="0" y="0"/>
            <a:chExt cx="152400" cy="22121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2400" cy="2212213"/>
            </a:xfrm>
            <a:custGeom>
              <a:avLst/>
              <a:gdLst/>
              <a:ahLst/>
              <a:cxnLst/>
              <a:rect r="r" b="b" t="t" l="l"/>
              <a:pathLst>
                <a:path h="2212213" w="15240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5283" y="0"/>
                  </a:lnTo>
                  <a:cubicBezTo>
                    <a:pt x="131318" y="0"/>
                    <a:pt x="152400" y="21082"/>
                    <a:pt x="152400" y="47117"/>
                  </a:cubicBezTo>
                  <a:lnTo>
                    <a:pt x="152400" y="2165096"/>
                  </a:lnTo>
                  <a:cubicBezTo>
                    <a:pt x="152400" y="2191131"/>
                    <a:pt x="131318" y="2212213"/>
                    <a:pt x="105283" y="2212213"/>
                  </a:cubicBezTo>
                  <a:lnTo>
                    <a:pt x="47117" y="2212213"/>
                  </a:lnTo>
                  <a:cubicBezTo>
                    <a:pt x="21082" y="2212213"/>
                    <a:pt x="0" y="2191131"/>
                    <a:pt x="0" y="2165096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845621" y="6598291"/>
            <a:ext cx="2771032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Suspiciously Perfect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845621" y="7017696"/>
            <a:ext cx="4361412" cy="730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Reviews with no complaints or constructive feedback.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95873" y="8163820"/>
            <a:ext cx="15296255" cy="39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Each detected pattern contributes to a weighted score, culminating in a </a:t>
            </a:r>
            <a:r>
              <a:rPr lang="en-US" sz="181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confidence score (0-100%)</a:t>
            </a: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and a classification: </a:t>
            </a:r>
            <a:r>
              <a:rPr lang="en-US" sz="181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FAKE</a:t>
            </a: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vs. </a:t>
            </a:r>
            <a:r>
              <a:rPr lang="en-US" sz="181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GENUINE</a:t>
            </a: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6099" y="5181600"/>
            <a:ext cx="8657906" cy="4819099"/>
          </a:xfrm>
          <a:custGeom>
            <a:avLst/>
            <a:gdLst/>
            <a:ahLst/>
            <a:cxnLst/>
            <a:rect r="r" b="b" t="t" l="l"/>
            <a:pathLst>
              <a:path h="4819099" w="8657906">
                <a:moveTo>
                  <a:pt x="0" y="0"/>
                </a:moveTo>
                <a:lnTo>
                  <a:pt x="8657906" y="0"/>
                </a:lnTo>
                <a:lnTo>
                  <a:pt x="8657906" y="4819099"/>
                </a:lnTo>
                <a:lnTo>
                  <a:pt x="0" y="48190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408" b="-450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81630" y="2907211"/>
            <a:ext cx="9158491" cy="5140203"/>
          </a:xfrm>
          <a:custGeom>
            <a:avLst/>
            <a:gdLst/>
            <a:ahLst/>
            <a:cxnLst/>
            <a:rect r="r" b="b" t="t" l="l"/>
            <a:pathLst>
              <a:path h="5140203" w="9158491">
                <a:moveTo>
                  <a:pt x="0" y="0"/>
                </a:moveTo>
                <a:lnTo>
                  <a:pt x="9158491" y="0"/>
                </a:lnTo>
                <a:lnTo>
                  <a:pt x="9158491" y="5140203"/>
                </a:lnTo>
                <a:lnTo>
                  <a:pt x="0" y="5140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1114" y="647995"/>
            <a:ext cx="8387505" cy="70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18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Live Demo: ByteMind API in 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1114" y="1654673"/>
            <a:ext cx="14785629" cy="36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Witness ByteMind's real-time detection capabilities through Postman API calls.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0361" y="4587318"/>
            <a:ext cx="3258979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Fake Review Detection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32266" y="2372020"/>
            <a:ext cx="3852710" cy="42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Genuine Review Detection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35994" y="1273969"/>
            <a:ext cx="7869584" cy="64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93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Performance &amp; Real-World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5994" y="2422769"/>
            <a:ext cx="3312166" cy="60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80-85%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40654" y="3230166"/>
            <a:ext cx="2502846" cy="33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Accuracy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5994" y="3614585"/>
            <a:ext cx="3312166" cy="62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High detection rate for identifying fraudulent reviews.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7174" y="2422769"/>
            <a:ext cx="3312319" cy="60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&lt;100ms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41834" y="3230166"/>
            <a:ext cx="2502846" cy="33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Response Time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37174" y="3614585"/>
            <a:ext cx="3312319" cy="62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Blazing-fast analysis for real-time applications.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38507" y="2422769"/>
            <a:ext cx="3312166" cy="60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1000+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43167" y="3230166"/>
            <a:ext cx="2502846" cy="33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Requests/Second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38507" y="3614585"/>
            <a:ext cx="3312166" cy="62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Massive scalability to handle peak e-commerce traffic.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39688" y="2422769"/>
            <a:ext cx="3312319" cy="60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$0.20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59058" y="3230166"/>
            <a:ext cx="2873426" cy="33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Cost per Million Requests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39688" y="3614585"/>
            <a:ext cx="3312319" cy="91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Extremely cost-effective, leveraging AWS serverless efficiency.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87841" y="5029943"/>
            <a:ext cx="3312166" cy="60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99.9%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92501" y="5837339"/>
            <a:ext cx="2502846" cy="33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Uptime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87841" y="6221759"/>
            <a:ext cx="3312166" cy="62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Guaranteed by AWS SLA for continuous operation.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35994" y="7049843"/>
            <a:ext cx="3394024" cy="39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Real-World Applications: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35994" y="7632944"/>
            <a:ext cx="13816012" cy="136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250"/>
              </a:lnSpc>
              <a:buFont typeface="Arial"/>
              <a:buChar char="•"/>
            </a:pPr>
            <a:r>
              <a:rPr lang="en-US" b="true" sz="1625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E-commerce Platforms:</a:t>
            </a: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Amazon, Flipkart, and others for maintaining product integrity.</a:t>
            </a:r>
          </a:p>
          <a:p>
            <a:pPr algn="l" marL="245070" indent="-122535" lvl="1">
              <a:lnSpc>
                <a:spcPts val="2250"/>
              </a:lnSpc>
              <a:buFont typeface="Arial"/>
              <a:buChar char="•"/>
            </a:pPr>
            <a:r>
              <a:rPr lang="en-US" b="true" sz="1625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Review Aggregators:</a:t>
            </a: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Yelp, TripAdvisor to enhance review credibility.</a:t>
            </a:r>
          </a:p>
          <a:p>
            <a:pPr algn="l" marL="245070" indent="-122535" lvl="1">
              <a:lnSpc>
                <a:spcPts val="2250"/>
              </a:lnSpc>
              <a:buFont typeface="Arial"/>
              <a:buChar char="•"/>
            </a:pPr>
            <a:r>
              <a:rPr lang="en-US" b="true" sz="1625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Consumer Protection Agencies:</a:t>
            </a: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Tools for identifying and combating deceptive practices.</a:t>
            </a:r>
          </a:p>
          <a:p>
            <a:pPr algn="l" marL="245070" indent="-122535" lvl="1">
              <a:lnSpc>
                <a:spcPts val="2250"/>
              </a:lnSpc>
              <a:buFont typeface="Arial"/>
              <a:buChar char="•"/>
            </a:pPr>
            <a:r>
              <a:rPr lang="en-US" b="true" sz="1625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Business Reputation Management:</a:t>
            </a: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Helping brands safeguard their online image.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2460127"/>
            <a:chOff x="0" y="0"/>
            <a:chExt cx="24384000" cy="328016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3280156"/>
            </a:xfrm>
            <a:custGeom>
              <a:avLst/>
              <a:gdLst/>
              <a:ahLst/>
              <a:cxnLst/>
              <a:rect r="r" b="b" t="t" l="l"/>
              <a:pathLst>
                <a:path h="328015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280156"/>
                  </a:lnTo>
                  <a:lnTo>
                    <a:pt x="0" y="3280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" t="0" r="-5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753468" y="3426466"/>
            <a:ext cx="5579716" cy="59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625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Current Status &amp; Roadmap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753468" y="6245866"/>
            <a:ext cx="12781064" cy="28575"/>
            <a:chOff x="0" y="0"/>
            <a:chExt cx="17041419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41368" cy="38100"/>
            </a:xfrm>
            <a:custGeom>
              <a:avLst/>
              <a:gdLst/>
              <a:ahLst/>
              <a:cxnLst/>
              <a:rect r="r" b="b" t="t" l="l"/>
              <a:pathLst>
                <a:path h="38100" w="1704136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7022318" y="0"/>
                  </a:lnTo>
                  <a:cubicBezTo>
                    <a:pt x="17032858" y="0"/>
                    <a:pt x="17041368" y="8509"/>
                    <a:pt x="17041368" y="19050"/>
                  </a:cubicBezTo>
                  <a:cubicBezTo>
                    <a:pt x="17041368" y="29591"/>
                    <a:pt x="17032858" y="38100"/>
                    <a:pt x="1702231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972300" y="5655545"/>
            <a:ext cx="28575" cy="590398"/>
            <a:chOff x="0" y="0"/>
            <a:chExt cx="38100" cy="7871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" cy="787146"/>
            </a:xfrm>
            <a:custGeom>
              <a:avLst/>
              <a:gdLst/>
              <a:ahLst/>
              <a:cxnLst/>
              <a:rect r="r" b="b" t="t" l="l"/>
              <a:pathLst>
                <a:path h="78714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68096"/>
                  </a:lnTo>
                  <a:cubicBezTo>
                    <a:pt x="38100" y="778637"/>
                    <a:pt x="29591" y="787146"/>
                    <a:pt x="19050" y="787146"/>
                  </a:cubicBezTo>
                  <a:cubicBezTo>
                    <a:pt x="8509" y="787146"/>
                    <a:pt x="0" y="778637"/>
                    <a:pt x="0" y="768096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765284" y="6024486"/>
            <a:ext cx="442760" cy="442760"/>
            <a:chOff x="0" y="0"/>
            <a:chExt cx="590347" cy="5903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0296" cy="590296"/>
            </a:xfrm>
            <a:custGeom>
              <a:avLst/>
              <a:gdLst/>
              <a:ahLst/>
              <a:cxnLst/>
              <a:rect r="r" b="b" t="t" l="l"/>
              <a:pathLst>
                <a:path h="590296" w="590296">
                  <a:moveTo>
                    <a:pt x="0" y="39370"/>
                  </a:moveTo>
                  <a:cubicBezTo>
                    <a:pt x="0" y="17653"/>
                    <a:pt x="17653" y="0"/>
                    <a:pt x="39370" y="0"/>
                  </a:cubicBezTo>
                  <a:lnTo>
                    <a:pt x="550926" y="0"/>
                  </a:lnTo>
                  <a:cubicBezTo>
                    <a:pt x="572643" y="0"/>
                    <a:pt x="590296" y="17653"/>
                    <a:pt x="590296" y="39370"/>
                  </a:cubicBezTo>
                  <a:lnTo>
                    <a:pt x="590296" y="550926"/>
                  </a:lnTo>
                  <a:cubicBezTo>
                    <a:pt x="590296" y="572643"/>
                    <a:pt x="572643" y="590296"/>
                    <a:pt x="550926" y="590296"/>
                  </a:cubicBezTo>
                  <a:lnTo>
                    <a:pt x="39370" y="590296"/>
                  </a:lnTo>
                  <a:cubicBezTo>
                    <a:pt x="17653" y="590296"/>
                    <a:pt x="0" y="572643"/>
                    <a:pt x="0" y="550926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47732" y="6110288"/>
            <a:ext cx="277711" cy="30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29148" y="4199487"/>
            <a:ext cx="2315318" cy="30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Phase 1: Completed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50216" y="4547445"/>
            <a:ext cx="8073180" cy="91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Production-ready API deployed on AWS.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Real-time detection fully functional.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Pattern-based AI model implemented, tested, and validated.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86677" y="6245800"/>
            <a:ext cx="28575" cy="590398"/>
            <a:chOff x="0" y="0"/>
            <a:chExt cx="38100" cy="7871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" cy="787146"/>
            </a:xfrm>
            <a:custGeom>
              <a:avLst/>
              <a:gdLst/>
              <a:ahLst/>
              <a:cxnLst/>
              <a:rect r="r" b="b" t="t" l="l"/>
              <a:pathLst>
                <a:path h="78714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68096"/>
                  </a:lnTo>
                  <a:cubicBezTo>
                    <a:pt x="38100" y="778637"/>
                    <a:pt x="29591" y="787146"/>
                    <a:pt x="19050" y="787146"/>
                  </a:cubicBezTo>
                  <a:cubicBezTo>
                    <a:pt x="8509" y="787146"/>
                    <a:pt x="0" y="778637"/>
                    <a:pt x="0" y="768096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079661" y="6024486"/>
            <a:ext cx="442760" cy="442760"/>
            <a:chOff x="0" y="0"/>
            <a:chExt cx="590347" cy="5903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0296" cy="590296"/>
            </a:xfrm>
            <a:custGeom>
              <a:avLst/>
              <a:gdLst/>
              <a:ahLst/>
              <a:cxnLst/>
              <a:rect r="r" b="b" t="t" l="l"/>
              <a:pathLst>
                <a:path h="590296" w="590296">
                  <a:moveTo>
                    <a:pt x="0" y="39370"/>
                  </a:moveTo>
                  <a:cubicBezTo>
                    <a:pt x="0" y="17653"/>
                    <a:pt x="17653" y="0"/>
                    <a:pt x="39370" y="0"/>
                  </a:cubicBezTo>
                  <a:lnTo>
                    <a:pt x="550926" y="0"/>
                  </a:lnTo>
                  <a:cubicBezTo>
                    <a:pt x="572643" y="0"/>
                    <a:pt x="590296" y="17653"/>
                    <a:pt x="590296" y="39370"/>
                  </a:cubicBezTo>
                  <a:lnTo>
                    <a:pt x="590296" y="550926"/>
                  </a:lnTo>
                  <a:cubicBezTo>
                    <a:pt x="590296" y="572643"/>
                    <a:pt x="572643" y="590296"/>
                    <a:pt x="550926" y="590296"/>
                  </a:cubicBezTo>
                  <a:lnTo>
                    <a:pt x="39370" y="590296"/>
                  </a:lnTo>
                  <a:cubicBezTo>
                    <a:pt x="17653" y="590296"/>
                    <a:pt x="0" y="572643"/>
                    <a:pt x="0" y="550926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162109" y="6110288"/>
            <a:ext cx="277711" cy="30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77733" y="7013972"/>
            <a:ext cx="2646607" cy="31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Phase 2: Coming Soon </a:t>
            </a:r>
            <a:r>
              <a:rPr lang="en-US" sz="1812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🚀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64451" y="7371455"/>
            <a:ext cx="8073333" cy="152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User-friendly web interface (in development).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Chrome extension for real-time browser detection.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Enhanced ML models (e.g., BERT integration).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Multi-language support (Hindi, regional Indian languages).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Mobile application for on-the-go analysis.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53468" y="9002468"/>
            <a:ext cx="12781064" cy="29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Our journey continues with an ambitious roadmap to expand ByteMind's reach and capabilities.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8508" y="947585"/>
            <a:ext cx="6595910" cy="826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Impact &amp; Future 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8508" y="2178996"/>
            <a:ext cx="16410984" cy="195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b="true" sz="2062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Empowering Consumers:</a:t>
            </a:r>
            <a:r>
              <a:rPr lang="en-US" sz="20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Enables informed purchasing decisions for Indian shoppers.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b="true" sz="2062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Protecting Businesses:</a:t>
            </a:r>
            <a:r>
              <a:rPr lang="en-US" sz="20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Safeguards small businesses from the damaging effects of review fraud.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b="true" sz="2062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Building Trust:</a:t>
            </a:r>
            <a:r>
              <a:rPr lang="en-US" sz="20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Strengthens the digital commerce ecosystem across India.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b="true" sz="2062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Scalable Solution:</a:t>
            </a:r>
            <a:r>
              <a:rPr lang="en-US" sz="20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Ready for pan-India deployment and global expansion.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8508" y="4466330"/>
            <a:ext cx="3786035" cy="50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Future Vision: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8508" y="5252447"/>
            <a:ext cx="16410984" cy="88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To seamlessly integrate ByteMind with major e-commerce platforms, fostering a universally trustworthy online shopping environment across India and beyond.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8508" y="7419975"/>
            <a:ext cx="16410984" cy="88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Developer:</a:t>
            </a:r>
            <a:r>
              <a:rPr lang="en-US" sz="20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Ankit Kumar Yadav | </a:t>
            </a:r>
            <a:r>
              <a:rPr lang="en-US" sz="206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Team:</a:t>
            </a:r>
            <a:r>
              <a:rPr lang="en-US" sz="20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ByteMind | </a:t>
            </a:r>
            <a:r>
              <a:rPr lang="en-US" sz="206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University:</a:t>
            </a:r>
            <a:r>
              <a:rPr lang="en-US" sz="20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Galgotias University </a:t>
            </a:r>
          </a:p>
          <a:p>
            <a:pPr algn="l">
              <a:lnSpc>
                <a:spcPts val="3187"/>
              </a:lnSpc>
            </a:pPr>
            <a:r>
              <a:rPr lang="en-US" sz="2062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Status:</a:t>
            </a:r>
            <a:r>
              <a:rPr lang="en-US" sz="20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API Live and Available for Testing!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508" y="8641556"/>
            <a:ext cx="5142757" cy="65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DAHBUgHhXnQ</dc:identifier>
  <dcterms:modified xsi:type="dcterms:W3CDTF">2011-08-01T06:04:30Z</dcterms:modified>
  <cp:revision>1</cp:revision>
  <dc:title>ByteMind-Fake-Review-Detector.pptx</dc:title>
</cp:coreProperties>
</file>